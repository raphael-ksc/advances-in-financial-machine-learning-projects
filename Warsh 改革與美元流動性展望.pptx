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72" r:id="rId4"/>
    <p:sldId id="263" r:id="rId5"/>
    <p:sldId id="266" r:id="rId6"/>
    <p:sldId id="261" r:id="rId7"/>
    <p:sldId id="260" r:id="rId8"/>
    <p:sldId id="275" r:id="rId9"/>
    <p:sldId id="269" r:id="rId10"/>
    <p:sldId id="274" r:id="rId11"/>
    <p:sldId id="259" r:id="rId12"/>
    <p:sldId id="267" r:id="rId13"/>
    <p:sldId id="268" r:id="rId14"/>
    <p:sldId id="265" r:id="rId15"/>
    <p:sldId id="262" r:id="rId16"/>
    <p:sldId id="270" r:id="rId17"/>
    <p:sldId id="257" r:id="rId18"/>
    <p:sldId id="273" r:id="rId19"/>
    <p:sldId id="26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4913F91B-AAAC-43DA-8518-2AE603456943}">
          <p14:sldIdLst>
            <p14:sldId id="256"/>
            <p14:sldId id="258"/>
            <p14:sldId id="272"/>
            <p14:sldId id="263"/>
            <p14:sldId id="266"/>
          </p14:sldIdLst>
        </p14:section>
        <p14:section name="流動性危機" id="{59CFFE21-7B00-4AFF-AEE3-951502CA67F5}">
          <p14:sldIdLst>
            <p14:sldId id="261"/>
            <p14:sldId id="260"/>
            <p14:sldId id="275"/>
            <p14:sldId id="269"/>
            <p14:sldId id="274"/>
          </p14:sldIdLst>
        </p14:section>
        <p14:section name="附註" id="{C1947AAA-E1E0-4619-B768-DA2C7B184106}">
          <p14:sldIdLst>
            <p14:sldId id="259"/>
            <p14:sldId id="267"/>
            <p14:sldId id="268"/>
            <p14:sldId id="265"/>
            <p14:sldId id="262"/>
            <p14:sldId id="270"/>
            <p14:sldId id="257"/>
            <p14:sldId id="27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61" autoAdjust="0"/>
    <p:restoredTop sz="80238" autoAdjust="0"/>
  </p:normalViewPr>
  <p:slideViewPr>
    <p:cSldViewPr snapToGrid="0" snapToObjects="1">
      <p:cViewPr varScale="1">
        <p:scale>
          <a:sx n="90" d="100"/>
          <a:sy n="90" d="100"/>
        </p:scale>
        <p:origin x="13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2929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執行長，各位長官大家好，今天要報告的是</a:t>
            </a:r>
            <a:r>
              <a:rPr lang="en-US" altLang="zh-TW" dirty="0" err="1"/>
              <a:t>Warsh</a:t>
            </a:r>
            <a:r>
              <a:rPr lang="zh-TW" altLang="en-US" dirty="0"/>
              <a:t>改革與美國資本流動性展望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主要引述中金投資銀行的報告，以及我蒐集的公開資訊分析。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這頁談論的是</a:t>
            </a:r>
            <a:r>
              <a:rPr lang="en-US" altLang="zh-TW" dirty="0" err="1"/>
              <a:t>Warsh</a:t>
            </a:r>
            <a:r>
              <a:rPr lang="zh-TW" altLang="en-US" dirty="0"/>
              <a:t>的政策動機，就是他想處理甚麼問題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左邊是美聯儲現在的問題</a:t>
            </a:r>
            <a:r>
              <a:rPr lang="en-US" altLang="zh-TW" dirty="0"/>
              <a:t>:</a:t>
            </a:r>
          </a:p>
          <a:p>
            <a:r>
              <a:rPr lang="zh-TW" altLang="en-US" dirty="0"/>
              <a:t>第一、過去聯準會太喜歡用</a:t>
            </a:r>
            <a:r>
              <a:rPr lang="en-US" altLang="zh-TW" dirty="0"/>
              <a:t>QE</a:t>
            </a:r>
            <a:r>
              <a:rPr lang="zh-TW" altLang="en-US" dirty="0"/>
              <a:t>製造流動性，隨後用</a:t>
            </a:r>
            <a:r>
              <a:rPr lang="en-US" altLang="zh-TW" dirty="0"/>
              <a:t>QT</a:t>
            </a:r>
            <a:r>
              <a:rPr lang="zh-TW" altLang="en-US" dirty="0"/>
              <a:t>收緊流動性，這些循環在歷史上造成了</a:t>
            </a:r>
            <a:endParaRPr lang="en-US" altLang="zh-TW" dirty="0"/>
          </a:p>
          <a:p>
            <a:r>
              <a:rPr lang="zh-TW" altLang="en-US" dirty="0"/>
              <a:t>第二、就是臉準會被市場綁架，</a:t>
            </a:r>
            <a:endParaRPr lang="en-US" altLang="zh-TW" dirty="0"/>
          </a:p>
          <a:p>
            <a:r>
              <a:rPr lang="zh-TW" altLang="en-US" dirty="0"/>
              <a:t>第三、</a:t>
            </a:r>
            <a:r>
              <a:rPr lang="en-US" altLang="zh-TW" dirty="0" err="1"/>
              <a:t>Warsh</a:t>
            </a:r>
            <a:r>
              <a:rPr lang="zh-TW" altLang="en-US" dirty="0"/>
              <a:t>覺得銀行的監管太多了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這頁主要是講解</a:t>
            </a:r>
            <a:r>
              <a:rPr lang="en-US" altLang="zh-TW" dirty="0" err="1"/>
              <a:t>Warsh</a:t>
            </a:r>
            <a:r>
              <a:rPr lang="zh-TW" altLang="en-US" dirty="0"/>
              <a:t>理想的新框架，主要就是</a:t>
            </a:r>
            <a:r>
              <a:rPr lang="en-US" altLang="zh-TW" dirty="0"/>
              <a:t>FED</a:t>
            </a:r>
            <a:r>
              <a:rPr lang="zh-TW" altLang="en-US" dirty="0"/>
              <a:t>以短債換長債，同時對商業銀行去監管化，並且開放短期流動性工具支持商業銀行流動性。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我以美聯儲與商業銀行的資產負債表來說明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66287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接下來是更詳細的改革路徑，首先來到的是對債市的理想影響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這頁探討的是債市如果穩定後，就是到股票後續的表現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458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再來我會講流動性危機，我先來探討下歷史上發生的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2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接下來是我自己做的小結，也就是</a:t>
            </a:r>
            <a:r>
              <a:rPr lang="en-US" altLang="zh-TW" dirty="0" err="1"/>
              <a:t>Warsh</a:t>
            </a:r>
            <a:r>
              <a:rPr lang="zh-TW" altLang="en-US" dirty="0"/>
              <a:t>改革的情境分析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713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268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303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0557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2822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288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0721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8486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接下來是我自己做的小結，也就是</a:t>
            </a:r>
            <a:r>
              <a:rPr lang="en-US" altLang="zh-TW" dirty="0" err="1"/>
              <a:t>Warsh</a:t>
            </a:r>
            <a:r>
              <a:rPr lang="zh-TW" altLang="en-US" dirty="0"/>
              <a:t>改革的情境分析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4610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這頁探討的是主要實施風險，也是我自己的看法。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55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B3D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外匯交易台專用簡報｜2026年8月</a:t>
            </a:r>
            <a:endParaRPr lang="en-US" sz="1400" b="1" dirty="0"/>
          </a:p>
        </p:txBody>
      </p:sp>
      <p:pic>
        <p:nvPicPr>
          <p:cNvPr id="1026" name="Picture 2" descr="100+ Wall Street Pictures [HD] | Download Free Images on Unsplash">
            <a:extLst>
              <a:ext uri="{FF2B5EF4-FFF2-40B4-BE49-F238E27FC236}">
                <a16:creationId xmlns:a16="http://schemas.microsoft.com/office/drawing/2014/main" id="{CD780C8E-70A1-4D6B-9D38-B919122502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6" t="12827" r="36" b="2769"/>
          <a:stretch/>
        </p:blipFill>
        <p:spPr bwMode="auto">
          <a:xfrm>
            <a:off x="0" y="0"/>
            <a:ext cx="1218764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hape 0"/>
          <p:cNvSpPr/>
          <p:nvPr/>
        </p:nvSpPr>
        <p:spPr>
          <a:xfrm>
            <a:off x="-1306" y="0"/>
            <a:ext cx="12188952" cy="6858000"/>
          </a:xfrm>
          <a:prstGeom prst="rect">
            <a:avLst/>
          </a:prstGeom>
          <a:solidFill>
            <a:schemeClr val="tx1">
              <a:lumMod val="95000"/>
              <a:lumOff val="5000"/>
              <a:alpha val="60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454297" y="952135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TW" sz="4000" b="1" dirty="0" err="1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Warsh</a:t>
            </a:r>
            <a:r>
              <a:rPr lang="en-US" altLang="zh-TW" sz="40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4000" b="1" dirty="0">
                <a:solidFill>
                  <a:schemeClr val="bg1">
                    <a:lumMod val="9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改革與美元流動性展望</a:t>
            </a:r>
            <a:endParaRPr lang="en-US" sz="4000" b="1" dirty="0">
              <a:solidFill>
                <a:schemeClr val="bg1">
                  <a:lumMod val="9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4297" y="1935479"/>
            <a:ext cx="2194560" cy="0"/>
          </a:xfrm>
          <a:prstGeom prst="line">
            <a:avLst/>
          </a:prstGeom>
          <a:noFill/>
          <a:ln w="31750">
            <a:solidFill>
              <a:srgbClr val="B786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297" y="2209799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chemeClr val="bg1">
                    <a:lumMod val="9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</a:p>
          <a:p>
            <a:pPr marL="0" indent="0">
              <a:buNone/>
            </a:pPr>
            <a:r>
              <a:rPr lang="en-US" sz="1600" b="1" dirty="0" err="1">
                <a:solidFill>
                  <a:schemeClr val="bg1">
                    <a:lumMod val="9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中金《沃什改革下的「貨幣財政協同</a:t>
            </a: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」》(2026/8/14)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95000"/>
                  </a:schemeClr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《海外流動性會出問題麼？》(2026/8/17)，及公開市場資訊</a:t>
            </a:r>
            <a:endParaRPr lang="en-US" sz="16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28" name="Picture 4" descr="Richart - Open Account">
            <a:extLst>
              <a:ext uri="{FF2B5EF4-FFF2-40B4-BE49-F238E27FC236}">
                <a16:creationId xmlns:a16="http://schemas.microsoft.com/office/drawing/2014/main" id="{4E4895A0-EE8B-4F6D-AA35-A948659F4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8838" y="4189564"/>
            <a:ext cx="3378019" cy="258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背景：政策動機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沃什要解決的問題：QE/QT大開大合正在傷害實體經濟與聯準會信譽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流動性風險與外匯市場展望｜機密資料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94360" cy="594360"/>
          </a:xfrm>
          <a:prstGeom prst="roundRect">
            <a:avLst>
              <a:gd name="adj" fmla="val 50769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727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大開大合助長投機、擴大分化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90195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QE時期流動性過剩刺激資產泡沫，QT收緊觸發風險，形成循環；1980年代以來製造業空心化與貧富分化擴大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594360" cy="594360"/>
          </a:xfrm>
          <a:prstGeom prst="roundRect">
            <a:avLst>
              <a:gd name="adj" fmla="val 50769"/>
            </a:avLst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6243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聯準會被市場綁架（Mission Creep）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95351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FOMC會議記錄提及股市次數趨勢上升，形成「聯準會看跌期權」，被迫介入不該介入的日常波動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594360" cy="594360"/>
          </a:xfrm>
          <a:prstGeom prst="roundRect">
            <a:avLst>
              <a:gd name="adj" fmla="val 50769"/>
            </a:avLst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703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67588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監管錯配加劇脫實向虛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00507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過度監管銀行，資金流向監管較鬆的非銀機構「套利」，中小企業融資反而受阻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029200"/>
            <a:ext cx="5257800" cy="685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10235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 err="1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</a:t>
            </a:r>
            <a:r>
              <a:rPr lang="en-US" sz="1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zh-TW" altLang="en-US" sz="1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短債置換長債＋銀行去監管，流動性投放「細水長流」而非「大開大合」</a:t>
            </a:r>
          </a:p>
        </p:txBody>
      </p:sp>
      <p:sp>
        <p:nvSpPr>
          <p:cNvPr id="20" name="Shape 18"/>
          <p:cNvSpPr/>
          <p:nvPr/>
        </p:nvSpPr>
        <p:spPr>
          <a:xfrm>
            <a:off x="6172200" y="1600200"/>
            <a:ext cx="5532120" cy="2194560"/>
          </a:xfrm>
          <a:prstGeom prst="rect">
            <a:avLst/>
          </a:prstGeom>
          <a:solidFill>
            <a:srgbClr val="FBFBFC"/>
          </a:solidFill>
          <a:ln w="15875">
            <a:solidFill>
              <a:srgbClr val="AAB4BE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172200" y="1655064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BE"/>
                </a:solidFill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73368" y="2039112"/>
            <a:ext cx="5129784" cy="1618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【中金報告一：沃什改革下的「貨幣財政協同」】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圖表3｜1980年代以來，美國「小政府」伴隨產業空心化與貧富差距拉大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重點關注：製造業就業與前10%收入群體份額走勢交叉，說明改革的長期結構背景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3977640"/>
            <a:ext cx="5532120" cy="1965960"/>
          </a:xfrm>
          <a:prstGeom prst="rect">
            <a:avLst/>
          </a:prstGeom>
          <a:solidFill>
            <a:srgbClr val="FBFBFC"/>
          </a:solidFill>
          <a:ln w="15875">
            <a:solidFill>
              <a:srgbClr val="AAB4BE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172200" y="4032504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BE"/>
                </a:solidFill>
              </a:rPr>
              <a:t>📊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73368" y="4416552"/>
            <a:ext cx="5129784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【中金報告一：沃什改革下的「貨幣財政協同」】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圖表2｜美聯儲貨幣政策越發在意股市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重點關注：FOMC會議記錄提及股市次數，說明「聯準會看跌期權」如何形成</a:t>
            </a:r>
            <a:endParaRPr lang="en-US" sz="1250" dirty="0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0C9B63D2-0358-4A7B-BA9F-1400BDD92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141" y="3948556"/>
            <a:ext cx="5638800" cy="2836292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F8490B88-8D6B-46E5-A0B1-B450CF930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52145"/>
            <a:ext cx="5743202" cy="29601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C71DDB46-1C52-4363-B2CC-917A67DB0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172" y="1435511"/>
            <a:ext cx="9817750" cy="5337429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0CA12FE-44FC-4A9B-969C-7DB302F65A27}"/>
              </a:ext>
            </a:extLst>
          </p:cNvPr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</a:rPr>
              <a:t>縮表理想</a:t>
            </a:r>
            <a:endParaRPr lang="en-US" sz="1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19BD961-7D9A-4426-A725-5114C92C5600}"/>
              </a:ext>
            </a:extLst>
          </p:cNvPr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zh-TW" alt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新框架下，</a:t>
            </a:r>
            <a:r>
              <a:rPr lang="en-US" altLang="zh-TW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FED</a:t>
            </a:r>
            <a:r>
              <a:rPr lang="zh-TW" alt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以短債換長債，同時對商業銀行去監管化，並且開放</a:t>
            </a:r>
            <a:r>
              <a:rPr lang="en-US" altLang="zh-TW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SRF,</a:t>
            </a:r>
            <a:r>
              <a:rPr lang="zh-TW" alt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DW</a:t>
            </a:r>
            <a:r>
              <a:rPr lang="zh-TW" alt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工具支持商業銀行流動性。故而商業銀行具更大空間對實體經濟貸款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29531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傳導鏈第一段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監管鬆綁如何轉換成銀行的實際購債能力：先看債市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流動性風險與外匯市場展望｜機密資料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放鬆LCR／SLR等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監管要求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90672" y="1554480"/>
            <a:ext cx="201168" cy="320040"/>
          </a:xfrm>
          <a:prstGeom prst="rightArrow">
            <a:avLst/>
          </a:prstGeom>
          <a:solidFill>
            <a:srgbClr val="44607D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2801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28016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SRF／貼現窗口</a:t>
            </a:r>
            <a:r>
              <a:rPr lang="en-US" altLang="zh-TW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(DW)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去污名化</a:t>
            </a:r>
            <a:r>
              <a:rPr lang="en-US" altLang="zh-TW" sz="14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De-stigmatisation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25312" y="1554480"/>
            <a:ext cx="201168" cy="320040"/>
          </a:xfrm>
          <a:prstGeom prst="rightArrow">
            <a:avLst/>
          </a:prstGeom>
          <a:solidFill>
            <a:srgbClr val="44607D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12801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28016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銀行更願意持有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並質押長債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59952" y="1554480"/>
            <a:ext cx="201168" cy="320040"/>
          </a:xfrm>
          <a:prstGeom prst="rightArrow">
            <a:avLst/>
          </a:prstGeom>
          <a:solidFill>
            <a:srgbClr val="44607D"/>
          </a:solidFill>
          <a:ln/>
        </p:spPr>
      </p:sp>
      <p:sp>
        <p:nvSpPr>
          <p:cNvPr id="15" name="Shape 13"/>
          <p:cNvSpPr/>
          <p:nvPr/>
        </p:nvSpPr>
        <p:spPr>
          <a:xfrm>
            <a:off x="8961120" y="128016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B7862C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128016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長債買盤變厚，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抑制期限溢價上升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5532120" cy="1965960"/>
          </a:xfrm>
          <a:prstGeom prst="rect">
            <a:avLst/>
          </a:prstGeom>
          <a:solidFill>
            <a:srgbClr val="FBFBFC"/>
          </a:solidFill>
          <a:ln w="15875">
            <a:solidFill>
              <a:srgbClr val="AAB4B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57200" y="2843784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BE"/>
                </a:solidFill>
              </a:rPr>
              <a:t>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" y="3227832"/>
            <a:ext cx="5129784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【中金報告一：沃什改革下的「貨幣財政協同」】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圖表13｜米蘭《縮減指南》給出了流動性體系改革的關鍵細節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重點關注：13項監管鬆綁政策對照表，附估算縮表影響金額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2788920"/>
            <a:ext cx="5532120" cy="1965960"/>
          </a:xfrm>
          <a:prstGeom prst="rect">
            <a:avLst/>
          </a:prstGeom>
          <a:solidFill>
            <a:srgbClr val="FBFBFC"/>
          </a:solidFill>
          <a:ln w="15875">
            <a:solidFill>
              <a:srgbClr val="AAB4BE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172200" y="2843784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BE"/>
                </a:solidFill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73368" y="3227832"/>
            <a:ext cx="5129784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【中金報告二：海外流動性會出問題麼？】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圖表｜7月以來，美債利率上行主要由期限溢價貢獻，利率預期反而回落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重點關注：證明「期限溢價」與「利率預期」是兩件不同的事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5713374"/>
            <a:ext cx="11247120" cy="760756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/>
        </p:spPr>
      </p:sp>
      <p:sp>
        <p:nvSpPr>
          <p:cNvPr id="24" name="Text 22"/>
          <p:cNvSpPr/>
          <p:nvPr/>
        </p:nvSpPr>
        <p:spPr>
          <a:xfrm>
            <a:off x="571500" y="5713374"/>
            <a:ext cx="10789920" cy="797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 err="1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監管鬆綁不是憑空生錢，是把銀行原本被迫閒置的流動性緩衝轉換成可用資金</a:t>
            </a:r>
            <a:endParaRPr lang="en-US" sz="1400" dirty="0"/>
          </a:p>
        </p:txBody>
      </p:sp>
      <p:pic>
        <p:nvPicPr>
          <p:cNvPr id="26" name="圖片 25">
            <a:extLst>
              <a:ext uri="{FF2B5EF4-FFF2-40B4-BE49-F238E27FC236}">
                <a16:creationId xmlns:a16="http://schemas.microsoft.com/office/drawing/2014/main" id="{216E4359-3EB8-4F7C-9038-9D496D526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" y="2218562"/>
            <a:ext cx="6151993" cy="3494812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56422A0D-8A5B-478A-8D8E-EC9213E8B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682" y="2174646"/>
            <a:ext cx="5563376" cy="34690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傳導鏈第二段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債市穩定後，股市的支撐來自獲利成長而非估值膨脹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流動性風險與外匯市場展望｜機密資料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532120" cy="2834640"/>
          </a:xfrm>
          <a:prstGeom prst="rect">
            <a:avLst/>
          </a:prstGeom>
          <a:solidFill>
            <a:srgbClr val="FBFBFC"/>
          </a:solidFill>
          <a:ln w="15875">
            <a:solidFill>
              <a:srgbClr val="AAB4B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1609344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BE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5129784" cy="2258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【中金報告二：海外流動性會出問題麼？】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圖表｜10年美債利率預期測算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重點關注：若年內不加息，長債利率中樞落在4.1-4.5%——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比2022年升息高點（約5%）低，但比QE時期（1-1.5%）高很多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532120" cy="2834640"/>
          </a:xfrm>
          <a:prstGeom prst="rect">
            <a:avLst/>
          </a:prstGeom>
          <a:solidFill>
            <a:srgbClr val="FBFBFC"/>
          </a:solidFill>
          <a:ln w="15875">
            <a:solidFill>
              <a:srgbClr val="AAB4B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172200" y="1609344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BE"/>
                </a:solidFill>
              </a:rPr>
              <a:t>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73368" y="1993392"/>
            <a:ext cx="5129784" cy="2258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【中金報告二：海外流動性會出問題麼？】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圖表｜標普500指數動態盈利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重點關注：動態盈利與指數走勢高度同步，證明「更大空間來自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子端盈利突破」而非單純殖利率下降推升估值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617720"/>
            <a:ext cx="11247120" cy="123444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7548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這次股市支撐邏輯：「信貸寬鬆帶動獲利」而非「殖利率暴跌帶動估值」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510235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與QE時期靠殖利率壓低推升估值的性質不同，這是比較健康的股市上漲驅動力，解釋了即便長債殖利率未大幅下降，股市仍能維持支撐</a:t>
            </a:r>
            <a:endParaRPr lang="en-US" sz="1400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5AC89177-E7CB-4E9F-B282-4E1958311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81" y="1183653"/>
            <a:ext cx="5568719" cy="3365069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B5AAFEC6-10DB-4C3A-BA10-8F72A52AD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029" y="1195454"/>
            <a:ext cx="5630061" cy="33532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流動性現況體檢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現況體檢：流動性震盪但未收縮，指標尚未亮紅燈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流動性風險與外匯市場展望｜機密資料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532120" cy="2651760"/>
          </a:xfrm>
          <a:prstGeom prst="rect">
            <a:avLst/>
          </a:prstGeom>
          <a:solidFill>
            <a:srgbClr val="FBFBFC"/>
          </a:solidFill>
          <a:ln w="15875">
            <a:solidFill>
              <a:srgbClr val="AAB4B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1609344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BE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5129784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【中金報告二：海外流動性會出問題麼？】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圖表｜若年內美聯儲不開啟縮表，至年底美國金融流動性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或繼續維持震盪，不至大幅收縮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（金融流動性指標＝聯準會負債－TGA－逆回購）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532120" cy="2651760"/>
          </a:xfrm>
          <a:prstGeom prst="rect">
            <a:avLst/>
          </a:prstGeom>
          <a:solidFill>
            <a:srgbClr val="FBFBFC"/>
          </a:solidFill>
          <a:ln w="15875">
            <a:solidFill>
              <a:srgbClr val="AAB4B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172200" y="1609344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BE"/>
                </a:solidFill>
              </a:rPr>
              <a:t>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73368" y="1993392"/>
            <a:ext cx="5129784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【中金報告二：海外流動性會出問題麼？】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圖表｜近期美國回購市場壓力小幅抬升但整體可控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（SOFR-OIS利差圖）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11247120" cy="1600200"/>
          </a:xfrm>
          <a:prstGeom prst="roundRect">
            <a:avLst>
              <a:gd name="adj" fmla="val 3429"/>
            </a:avLst>
          </a:prstGeom>
          <a:solidFill>
            <a:srgbClr val="F2F4F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57200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SOFR-OIS利差：金融體系的「體溫計」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493776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SOFR：銀行實際借隔夜現金的成交利率；OIS：市場對政策利率路徑的理論預期。利差擴大＝短期資金市場出現摩擦（準備金稀缺、資產負債表額度不足）。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2019、2008危機前皆先在此指標異常。目前2.41bp，遠低於2025年11月高點14.42bp，更遠低於2019年危機時期近300bp的量級。</a:t>
            </a:r>
            <a:endParaRPr lang="en-US" sz="1400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3088CF78-8D0C-4EF4-9D2E-CF3808DBF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07" y="1126627"/>
            <a:ext cx="5572893" cy="3266303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68B3A940-8EF2-4E91-9533-AADE61C18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0769" y="1105120"/>
            <a:ext cx="5584323" cy="3306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17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歷史證據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 err="1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歷史證明</a:t>
            </a:r>
            <a:r>
              <a:rPr 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zh-TW" alt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股債匯</a:t>
            </a:r>
            <a:r>
              <a:rPr lang="en-US" sz="2400" b="1" dirty="0" err="1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三殺需要信用事件疊加，純技術性衝擊很少蔓延全市場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流動性風險與外匯市場展望｜機密資料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107157"/>
              </p:ext>
            </p:extLst>
          </p:nvPr>
        </p:nvGraphicFramePr>
        <p:xfrm>
          <a:off x="457200" y="1508760"/>
          <a:ext cx="11247120" cy="43434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事件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觸發原因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是否三殺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關鍵數據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來源／日期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2008 金融危機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次貸違約引爆抵押品鏈斷裂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9E2A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標普500高點到低點跌約57%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Federal Reserve History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2013 Taper Tantrum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Bernanke暗示縮減QE購債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D6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10年美債5/22-9/5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從1.94%衝高至2.98%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Federal Reserve｜2023/10/4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2019年9月 Repo危機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繳稅＋美債結算抽走準備金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3D6B4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否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SOFR單日從2.43%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飆到5.25%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Federal Reserve｜2020/2/27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2020年3月「現金搶奪」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疫情恐慌，連美債都被拋售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接近是</a:t>
                      </a:r>
                      <a:endParaRPr lang="en-US" sz="1300" dirty="0">
                        <a:solidFill>
                          <a:schemeClr val="tx2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半月內買近8000億美元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公債＋MBS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NY Fed Staff Report 1010｜2022/3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2022年9月 英國Gilt危機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財政信心崩潰＋LDI槓桿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保證金連環追繳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局部是</a:t>
                      </a:r>
                      <a:endParaRPr lang="en-US" sz="1300" dirty="0">
                        <a:solidFill>
                          <a:schemeClr val="tx2"/>
                        </a:solidFill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30年期英債4天內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飆升120bp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Bank of England｜2023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5326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8EEB19D-3079-4FD1-98B3-DE862550D2E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9331" y="1838369"/>
            <a:ext cx="5490653" cy="288260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758CE53-1EEA-4643-B5AE-1163B425F3F8}"/>
              </a:ext>
            </a:extLst>
          </p:cNvPr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</a:rPr>
              <a:t>信任風險</a:t>
            </a:r>
            <a:endParaRPr lang="en-US" sz="14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7C61832-49CA-4612-B6AE-79E0838E96D3}"/>
              </a:ext>
            </a:extLst>
          </p:cNvPr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zh-TW" alt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企業端信用風險目前不明顯，信任風險主要出在美國政府上，故美國政府能否控制財政赤字是關鍵</a:t>
            </a:r>
            <a:endParaRPr lang="en-US" sz="2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FDCDDDD-0DDD-4F69-B2DB-869A3CD29FE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38830" y="1769470"/>
            <a:ext cx="5274310" cy="3102610"/>
          </a:xfrm>
          <a:prstGeom prst="rect">
            <a:avLst/>
          </a:prstGeom>
        </p:spPr>
      </p:pic>
      <p:sp>
        <p:nvSpPr>
          <p:cNvPr id="6" name="Text 15">
            <a:extLst>
              <a:ext uri="{FF2B5EF4-FFF2-40B4-BE49-F238E27FC236}">
                <a16:creationId xmlns:a16="http://schemas.microsoft.com/office/drawing/2014/main" id="{18DA2D08-886E-4B95-917F-0C644EDE0197}"/>
              </a:ext>
            </a:extLst>
          </p:cNvPr>
          <p:cNvSpPr/>
          <p:nvPr/>
        </p:nvSpPr>
        <p:spPr>
          <a:xfrm>
            <a:off x="176501" y="4755335"/>
            <a:ext cx="5919499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002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CDX NA IG 5Y</a:t>
            </a:r>
            <a:r>
              <a:rPr lang="zh-TW" altLang="en-US" sz="1400" dirty="0">
                <a:solidFill>
                  <a:srgbClr val="002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400" dirty="0">
                <a:solidFill>
                  <a:srgbClr val="002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zh-TW" altLang="en-US" sz="1400" dirty="0">
                <a:solidFill>
                  <a:srgbClr val="002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北美洲五年期投資級債券</a:t>
            </a:r>
            <a:r>
              <a:rPr lang="en-US" altLang="zh-TW" sz="1400" dirty="0">
                <a:solidFill>
                  <a:srgbClr val="002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CDS Spread)</a:t>
            </a:r>
            <a:r>
              <a:rPr lang="zh-TW" altLang="en-US" sz="1400" dirty="0">
                <a:solidFill>
                  <a:srgbClr val="002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目前處在歷史低端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7" name="Text 15">
            <a:extLst>
              <a:ext uri="{FF2B5EF4-FFF2-40B4-BE49-F238E27FC236}">
                <a16:creationId xmlns:a16="http://schemas.microsoft.com/office/drawing/2014/main" id="{8F69762F-7473-4D66-87CD-D9030178F235}"/>
              </a:ext>
            </a:extLst>
          </p:cNvPr>
          <p:cNvSpPr/>
          <p:nvPr/>
        </p:nvSpPr>
        <p:spPr>
          <a:xfrm>
            <a:off x="6238830" y="4755335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TW" sz="1400" dirty="0">
                <a:solidFill>
                  <a:srgbClr val="002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M7</a:t>
            </a:r>
            <a:r>
              <a:rPr lang="zh-TW" altLang="en-US" sz="1400" dirty="0">
                <a:solidFill>
                  <a:srgbClr val="002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科技其巨頭</a:t>
            </a:r>
            <a:r>
              <a:rPr lang="en-US" altLang="zh-TW" sz="1400" dirty="0">
                <a:solidFill>
                  <a:srgbClr val="002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r>
              <a:rPr lang="zh-TW" altLang="en-US" sz="1400" dirty="0">
                <a:solidFill>
                  <a:srgbClr val="002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年期</a:t>
            </a:r>
            <a:r>
              <a:rPr lang="en-US" altLang="zh-TW" sz="1400" dirty="0">
                <a:solidFill>
                  <a:srgbClr val="002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CDS</a:t>
            </a:r>
            <a:r>
              <a:rPr lang="zh-TW" altLang="en-US" sz="1400" dirty="0">
                <a:solidFill>
                  <a:srgbClr val="002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400" dirty="0">
                <a:solidFill>
                  <a:srgbClr val="002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Spread</a:t>
            </a:r>
            <a:r>
              <a:rPr lang="zh-TW" altLang="en-US" sz="1400" dirty="0">
                <a:solidFill>
                  <a:srgbClr val="00206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也處在歷史低端</a:t>
            </a:r>
            <a:endParaRPr lang="en-US" sz="1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607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短期狀態</a:t>
            </a:r>
            <a:r>
              <a:rPr lang="en-US" sz="1400" b="1" kern="0" spc="100" dirty="0" err="1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 err="1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沃什改革成敗的關鍵</a:t>
            </a:r>
            <a:r>
              <a:rPr lang="zh-TW" alt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在於新框架落實與民眾對美國的財政信心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流動性風險與外匯市場展望｜機密資料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3115882"/>
              </p:ext>
            </p:extLst>
          </p:nvPr>
        </p:nvGraphicFramePr>
        <p:xfrm>
          <a:off x="457200" y="1417320"/>
          <a:ext cx="11247120" cy="3776472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情境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觸發指標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溢價性質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對美元影響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A｜框架成功落地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銀行實質增持長債（H.8數據）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 err="1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期限溢價</a:t>
                      </a:r>
                      <a:r>
                        <a:rPr lang="zh-TW" alt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維持穩定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TW" alt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短期</a:t>
                      </a:r>
                      <a:r>
                        <a:rPr lang="en-US" sz="1300" dirty="0" err="1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區間震盪偏強，避免典型降息弱勢劇本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B1｜成長驅動型溢價上升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經濟數據強於預期，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殖利率因樂觀預期上升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「好的」溢價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美元同步走強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9E2A2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B2｜財政信心危機型溢價上升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財政赤字惡化快於CBO預測，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銀行承接不如預期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「壞的」溢價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股債匯三殺（參照2022年英國）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zh-TW" alt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美國政府會去壓低長端債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C｜聯準會信譽受損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10年期損益平衡通膨率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脫錨上行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 err="1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類新興市場式「高名目利率仍走弱</a:t>
                      </a: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」</a:t>
                      </a:r>
                    </a:p>
                    <a:p>
                      <a:pPr marL="0" indent="0" algn="l">
                        <a:buNone/>
                      </a:pPr>
                      <a:r>
                        <a:rPr lang="zh-TW" alt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charset="0"/>
                        </a:rPr>
                        <a:t>美國不感升息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D｜技術性流動性事件重演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SRF／貼現窗口去污名化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不如預期順暢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短期避險買盤推升，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中期削弱框架公信力</a:t>
                      </a:r>
                      <a:endParaRPr lang="en-US" sz="13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417820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觀察指標：10年期損益平衡通膨率</a:t>
            </a:r>
            <a:r>
              <a:rPr lang="en-US" altLang="zh-TW" sz="1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BEI</a:t>
            </a:r>
            <a:r>
              <a:rPr lang="en-US" sz="1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</a:t>
            </a:r>
            <a:r>
              <a:rPr lang="zh-TW" altLang="en-US" sz="1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市場解讀</a:t>
            </a:r>
            <a:r>
              <a:rPr lang="en-US" sz="1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）；銀行H.8資產負債表長債持有量趨勢（</a:t>
            </a:r>
            <a:r>
              <a:rPr lang="zh-TW" altLang="en-US" sz="1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銀行是否照做</a:t>
            </a:r>
            <a:r>
              <a:rPr lang="en-US" sz="1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421043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後續展望</a:t>
            </a:r>
            <a:r>
              <a:rPr 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</a:t>
            </a:r>
            <a:r>
              <a:rPr lang="zh-TW" alt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我的觀點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11247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00" b="1" dirty="0" err="1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財政紀</a:t>
            </a:r>
            <a:r>
              <a:rPr lang="zh-TW" altLang="en-US" sz="22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律缺口下的最優解 </a:t>
            </a:r>
            <a:r>
              <a:rPr lang="en-US" altLang="zh-TW" sz="22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–</a:t>
            </a:r>
            <a:r>
              <a:rPr lang="zh-TW" altLang="en-US" sz="22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結構性壓低實質利率，確保</a:t>
            </a:r>
            <a:r>
              <a:rPr lang="en-US" altLang="zh-TW" sz="22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 &lt; 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429000" cy="658368"/>
          </a:xfrm>
          <a:prstGeom prst="roundRect">
            <a:avLst>
              <a:gd name="adj" fmla="val 9722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Warsh框架執行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FD9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大概率成功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913632" y="1536192"/>
            <a:ext cx="256032" cy="182880"/>
          </a:xfrm>
          <a:prstGeom prst="rightArrow">
            <a:avLst/>
          </a:prstGeom>
          <a:solidFill>
            <a:srgbClr val="44607D"/>
          </a:solidFill>
          <a:ln/>
        </p:spPr>
      </p:sp>
      <p:sp>
        <p:nvSpPr>
          <p:cNvPr id="9" name="Shape 7"/>
          <p:cNvSpPr/>
          <p:nvPr/>
        </p:nvSpPr>
        <p:spPr>
          <a:xfrm>
            <a:off x="4206240" y="1298448"/>
            <a:ext cx="3429000" cy="658368"/>
          </a:xfrm>
          <a:prstGeom prst="roundRect">
            <a:avLst>
              <a:gd name="adj" fmla="val 9722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4389120" y="13716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</a:t>
            </a:r>
            <a:r>
              <a:rPr lang="en-US" sz="14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財政紀律缺口</a:t>
            </a:r>
            <a:r>
              <a:rPr lang="en-US" altLang="zh-TW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r>
              <a:rPr lang="zh-TW" alt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信任危機</a:t>
            </a:r>
            <a:r>
              <a:rPr lang="en-US" altLang="zh-TW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1645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A8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官方證實無計畫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62672" y="1536192"/>
            <a:ext cx="256032" cy="182880"/>
          </a:xfrm>
          <a:prstGeom prst="rightArrow">
            <a:avLst/>
          </a:prstGeom>
          <a:solidFill>
            <a:srgbClr val="44607D"/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0" y="1298448"/>
            <a:ext cx="3429000" cy="658368"/>
          </a:xfrm>
          <a:prstGeom prst="roundRect">
            <a:avLst>
              <a:gd name="adj" fmla="val 9722"/>
            </a:avLst>
          </a:prstGeom>
          <a:solidFill>
            <a:srgbClr val="0B2545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3716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</a:t>
            </a:r>
            <a:r>
              <a:rPr lang="zh-TW" alt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隱性金融抑制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38160" y="16459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350" b="1" dirty="0">
                <a:solidFill>
                  <a:srgbClr val="F0D9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持平</a:t>
            </a:r>
            <a:r>
              <a:rPr lang="en-US" sz="1350" b="1" dirty="0" err="1">
                <a:solidFill>
                  <a:srgbClr val="F0D9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實質利率、r</a:t>
            </a:r>
            <a:r>
              <a:rPr lang="en-US" sz="1350" b="1" dirty="0">
                <a:solidFill>
                  <a:srgbClr val="F0D9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＜ 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3429000" cy="2651760"/>
          </a:xfrm>
          <a:prstGeom prst="roundRect">
            <a:avLst>
              <a:gd name="adj" fmla="val 2791"/>
            </a:avLst>
          </a:prstGeom>
          <a:solidFill>
            <a:srgbClr val="F2F4F7"/>
          </a:solidFill>
          <a:ln w="15875">
            <a:solidFill>
              <a:srgbClr val="3D6B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2371060"/>
            <a:ext cx="3026664" cy="1652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buSzPct val="100000"/>
              <a:buChar char="▪"/>
            </a:pPr>
            <a:r>
              <a:rPr lang="en-US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eSLR槓桿鬆綁已於2026/4/1生效（1月起可提前適用）</a:t>
            </a:r>
            <a:endParaRPr lang="en-US" sz="1400" dirty="0"/>
          </a:p>
          <a:p>
            <a:pPr marL="152400" indent="-152400">
              <a:lnSpc>
                <a:spcPct val="115000"/>
              </a:lnSpc>
              <a:buSzPct val="100000"/>
              <a:buChar char="▪"/>
            </a:pPr>
            <a:r>
              <a:rPr lang="en-US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銀行有雙重動機：DW/SRF去污名化→更多短期流動性；去監管→更大放貸與持債空間</a:t>
            </a:r>
            <a:endParaRPr lang="en-US" sz="1400" dirty="0"/>
          </a:p>
          <a:p>
            <a:pPr marL="152400" indent="-152400">
              <a:lnSpc>
                <a:spcPct val="115000"/>
              </a:lnSpc>
              <a:buSzPct val="100000"/>
              <a:buChar char="▪"/>
            </a:pPr>
            <a:r>
              <a:rPr lang="en-US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財政部也需要銀行承接長債，制度誘因一致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06240" y="2148840"/>
            <a:ext cx="3429000" cy="2651760"/>
          </a:xfrm>
          <a:prstGeom prst="roundRect">
            <a:avLst>
              <a:gd name="adj" fmla="val 2791"/>
            </a:avLst>
          </a:prstGeom>
          <a:solidFill>
            <a:srgbClr val="F2F4F7"/>
          </a:solidFill>
          <a:ln w="15875">
            <a:solidFill>
              <a:srgbClr val="9E2A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7408" y="2231136"/>
            <a:ext cx="3026664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buSzPct val="100000"/>
              <a:buChar char="▪"/>
            </a:pPr>
            <a:r>
              <a:rPr lang="en-US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美債總額已於2026/8/19突破40兆美元，利息支出為聯邦第三大年支出項（僅次社安、醫療保險）</a:t>
            </a:r>
            <a:endParaRPr lang="en-US" sz="1400" dirty="0"/>
          </a:p>
          <a:p>
            <a:pPr marL="152400" indent="-152400">
              <a:lnSpc>
                <a:spcPct val="115000"/>
              </a:lnSpc>
              <a:buSzPct val="100000"/>
              <a:buChar char="▪"/>
            </a:pPr>
            <a:r>
              <a:rPr lang="en-US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GAO：財政路徑「不可持續」，持續建議國會制定策略、迄今未見具體行動</a:t>
            </a:r>
            <a:endParaRPr lang="en-US" sz="1400" dirty="0"/>
          </a:p>
          <a:p>
            <a:pPr marL="152400" indent="-152400">
              <a:lnSpc>
                <a:spcPct val="115000"/>
              </a:lnSpc>
              <a:buSzPct val="100000"/>
              <a:buChar char="▪"/>
            </a:pPr>
            <a:r>
              <a:rPr lang="en-US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CBO基準：債務/GDP</a:t>
            </a:r>
            <a:r>
              <a:rPr lang="zh-TW" altLang="en-US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已經超過</a:t>
            </a:r>
            <a:r>
              <a:rPr lang="en-US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120%，超越1946年二戰高點106%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55280" y="2148840"/>
            <a:ext cx="3429000" cy="2651760"/>
          </a:xfrm>
          <a:prstGeom prst="roundRect">
            <a:avLst>
              <a:gd name="adj" fmla="val 2791"/>
            </a:avLst>
          </a:prstGeom>
          <a:solidFill>
            <a:srgbClr val="F2F4F7"/>
          </a:solidFill>
          <a:ln w="15875">
            <a:solidFill>
              <a:srgbClr val="B786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56448" y="2276856"/>
            <a:ext cx="3026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8156448" y="2286000"/>
            <a:ext cx="3026664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15000"/>
              </a:lnSpc>
              <a:buSzPct val="100000"/>
              <a:buChar char="▪"/>
            </a:pPr>
            <a:r>
              <a:rPr lang="en-US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立法路徑受阻：協調法案減赤指令被同步減稅法案部分抵銷</a:t>
            </a:r>
            <a:endParaRPr lang="en-US" sz="1400" dirty="0"/>
          </a:p>
          <a:p>
            <a:pPr marL="152400" indent="-152400">
              <a:lnSpc>
                <a:spcPct val="115000"/>
              </a:lnSpc>
              <a:buSzPct val="100000"/>
              <a:buChar char="▪"/>
            </a:pPr>
            <a:r>
              <a:rPr lang="en-US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貨幣路徑不需國會表決，執行門檻遠低於財政路徑</a:t>
            </a:r>
            <a:endParaRPr lang="en-US" sz="1400" dirty="0"/>
          </a:p>
          <a:p>
            <a:pPr marL="152400" indent="-152400">
              <a:lnSpc>
                <a:spcPct val="115000"/>
              </a:lnSpc>
              <a:buSzPct val="100000"/>
              <a:buChar char="▪"/>
            </a:pPr>
            <a:r>
              <a:rPr lang="en-US" sz="1400" dirty="0" err="1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歷史先例</a:t>
            </a:r>
            <a:r>
              <a:rPr lang="en-US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</a:p>
          <a:p>
            <a:pPr>
              <a:lnSpc>
                <a:spcPct val="115000"/>
              </a:lnSpc>
              <a:buSzPct val="100000"/>
            </a:pPr>
            <a:r>
              <a:rPr lang="en-US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1945-1951年</a:t>
            </a:r>
            <a:r>
              <a:rPr lang="en-US" altLang="zh-TW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</a:t>
            </a:r>
            <a:r>
              <a:rPr lang="en-US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r＜g（低名目利率＋通膨）稀釋債務/GDP</a:t>
            </a:r>
          </a:p>
          <a:p>
            <a:pPr>
              <a:lnSpc>
                <a:spcPct val="115000"/>
              </a:lnSpc>
              <a:buSzPct val="100000"/>
            </a:pPr>
            <a:r>
              <a:rPr lang="en-US" altLang="zh-TW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1960-1970</a:t>
            </a:r>
            <a:r>
              <a:rPr lang="zh-TW" altLang="en-US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</a:t>
            </a:r>
            <a:r>
              <a:rPr lang="en-US" altLang="zh-TW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:Fed</a:t>
            </a:r>
            <a:r>
              <a:rPr lang="zh-TW" altLang="en-US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put on fiscal dominance</a:t>
            </a:r>
            <a:r>
              <a:rPr lang="zh-TW" altLang="en-US" sz="14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，減輕越戰財政赤字</a:t>
            </a:r>
            <a:endParaRPr lang="en-US" sz="1400" dirty="0">
              <a:solidFill>
                <a:srgbClr val="1C1C1C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>
              <a:lnSpc>
                <a:spcPct val="115000"/>
              </a:lnSpc>
              <a:buSzPct val="100000"/>
            </a:pP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855464"/>
            <a:ext cx="11247120" cy="932688"/>
          </a:xfrm>
          <a:prstGeom prst="roundRect">
            <a:avLst>
              <a:gd name="adj" fmla="val 5882"/>
            </a:avLst>
          </a:prstGeom>
          <a:solidFill>
            <a:srgbClr val="0B2545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965192"/>
            <a:ext cx="10789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外匯結論：美元中</a:t>
            </a:r>
            <a:r>
              <a:rPr lang="zh-TW" alt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期</a:t>
            </a:r>
            <a:r>
              <a:rPr lang="en-US" sz="15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承壓，尤其若中東局勢降溫</a:t>
            </a:r>
            <a:r>
              <a:rPr lang="zh-TW" alt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，避險情緒降溫，美元相對走弱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" y="5294376"/>
            <a:ext cx="10789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實質利率</a:t>
            </a:r>
            <a:r>
              <a:rPr lang="zh-TW" alt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持平將</a:t>
            </a:r>
            <a:r>
              <a:rPr lang="en-US" sz="1400" dirty="0" err="1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削弱美元利差吸引力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6364224"/>
            <a:ext cx="11247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資料來源：CNBC (2026/8/19)｜JEC Monthly Debt Update (2026/8/7)｜GAO-26-108610《America's Fiscal Future》(2026/6)｜CBO《The Budget and Economic Outlook: 2026-2036》(2026/8)｜Fed/OCC/FDIC eSLR Final Rule (2025/11/25)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機制骨架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流動性收縮如何同時打崩股債房：一條共同的傳導鏈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流動性風險與外匯市場展望｜機密資料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332357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469517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聯準會／財政部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835277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9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準備金供給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9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＝銀行體系彈藥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332357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469517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商業銀行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1835277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9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放款能力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9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決定信貸供給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92440" y="1332357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9E2A2B"/>
          </a:solidFill>
          <a:ln/>
        </p:spPr>
      </p:sp>
      <p:sp>
        <p:nvSpPr>
          <p:cNvPr id="13" name="Text 11"/>
          <p:cNvSpPr/>
          <p:nvPr/>
        </p:nvSpPr>
        <p:spPr>
          <a:xfrm>
            <a:off x="8092440" y="1469517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股／債／房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92440" y="1835277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9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折現率＋槓桿鏈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9E2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＋抵押品鏈同步反應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1743837"/>
            <a:ext cx="1051560" cy="365760"/>
          </a:xfrm>
          <a:prstGeom prst="rightArrow">
            <a:avLst/>
          </a:prstGeom>
          <a:solidFill>
            <a:srgbClr val="B7862C"/>
          </a:solidFill>
          <a:ln/>
        </p:spPr>
      </p:sp>
      <p:sp>
        <p:nvSpPr>
          <p:cNvPr id="16" name="Shape 14"/>
          <p:cNvSpPr/>
          <p:nvPr/>
        </p:nvSpPr>
        <p:spPr>
          <a:xfrm>
            <a:off x="7040880" y="1743837"/>
            <a:ext cx="1051560" cy="365760"/>
          </a:xfrm>
          <a:prstGeom prst="rightArrow">
            <a:avLst/>
          </a:prstGeom>
          <a:solidFill>
            <a:srgbClr val="B7862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841117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三條並行的傳導機制（同一水源，三條不同水管）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3252597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2F4F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371469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折現率鏈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3691509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無風險利率上升→三類資產估值模型的折現率同步被推高→估值同步壓縮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97680" y="3252597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2F4F7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3371469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槓桿／保證金鏈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6280" y="3691509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融資成本上升→槓桿部位被追加保證金→集體去槓桿，不分資產類別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092440" y="3252597"/>
            <a:ext cx="3456434" cy="1417320"/>
          </a:xfrm>
          <a:prstGeom prst="roundRect">
            <a:avLst>
              <a:gd name="adj" fmla="val 3871"/>
            </a:avLst>
          </a:prstGeom>
          <a:solidFill>
            <a:srgbClr val="F2F4F7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3371469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抵押品鏈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21040" y="3691509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銀行體系現金水位下降→對企業、房貸、非銀機構信用供給同步收緊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5257800"/>
            <a:ext cx="11000232" cy="1170432"/>
          </a:xfrm>
          <a:prstGeom prst="rect">
            <a:avLst/>
          </a:prstGeom>
          <a:solidFill>
            <a:srgbClr val="FBFBFC"/>
          </a:solidFill>
          <a:ln w="15875">
            <a:solidFill>
              <a:srgbClr val="AAB4BE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57200" y="5312664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BE"/>
                </a:solidFill>
              </a:rPr>
              <a:t>📊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58368" y="5696712"/>
            <a:ext cx="108447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【中金報告一：沃什改革下的「貨幣財政協同」】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圖表14｜新框架下，美聯儲被動配合財政和銀行融資需求有望趨勢性擴表，銀行加速擴表</a:t>
            </a:r>
            <a:endParaRPr lang="en-US" sz="11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重點關注：對照新／舊框架銀行資產負債表右側「購入長債」變化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7570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風險雷達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未來六週的五個觸發點，中東局勢是中金報告遺漏的變數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流動性風險與外匯市場展望｜機密資料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532120" cy="3108960"/>
          </a:xfrm>
          <a:prstGeom prst="rect">
            <a:avLst/>
          </a:prstGeom>
          <a:solidFill>
            <a:srgbClr val="FBFBFC"/>
          </a:solidFill>
          <a:ln w="15875">
            <a:solidFill>
              <a:srgbClr val="AAB4B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1609344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BE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5129784" cy="2532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【外部來源】TradingEconomics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"United States Dollar - Quote"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查證日期：2026/8/18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網址：tradingeconomics.com/united-states/currency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重點關注：DXY即時走勢與市場新聞摘要，補強短期避險力量的即時佐證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6002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48132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8月非農／CPI數據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若反彈，升息預期升溫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2219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103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9月16日 FOMC利率決策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24048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市場現定價按兵不動機率約67%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284378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7249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9月18日 日央行利率決策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302666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與美日匯率干預進展連動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346557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34670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美日外匯干預與FIMA擴容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83680" y="364845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決定日本是否被迫拋售美債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40873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9E2A2B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96849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E2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中東局勢（美伊／荷姆茲海峽）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0" y="42702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中金原文未涵蓋的即時風險點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29205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數字修正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修正中金96-98預測：實際盤面顯示99-100更貼近現實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流動性風險與外匯市場展望｜機密資料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657600" cy="2377440"/>
          </a:xfrm>
          <a:prstGeom prst="rect">
            <a:avLst/>
          </a:prstGeom>
          <a:solidFill>
            <a:srgbClr val="FBFBFC"/>
          </a:solidFill>
          <a:ln w="15875">
            <a:solidFill>
              <a:srgbClr val="AAB4B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15636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BE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1947672"/>
            <a:ext cx="3255264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【中金報告二】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圖表｜我們預測2026年下半年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美元指數或在96-98區間內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震盪，不至大幅走弱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508760"/>
            <a:ext cx="3520440" cy="2377440"/>
          </a:xfrm>
          <a:prstGeom prst="rect">
            <a:avLst/>
          </a:prstGeom>
          <a:solidFill>
            <a:srgbClr val="FBFBFC"/>
          </a:solidFill>
          <a:ln w="15875">
            <a:solidFill>
              <a:srgbClr val="AAB4B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251960" y="156362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BE"/>
                </a:solidFill>
              </a:rPr>
              <a:t>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53128" y="1947672"/>
            <a:ext cx="3118104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【外部】TradingEconomics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2026/8/18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tradingeconomics.com/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united-states/currency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09560" y="1508760"/>
            <a:ext cx="3794760" cy="2377440"/>
          </a:xfrm>
          <a:prstGeom prst="rect">
            <a:avLst/>
          </a:prstGeom>
          <a:solidFill>
            <a:srgbClr val="FBFBFC"/>
          </a:solidFill>
          <a:ln w="15875">
            <a:solidFill>
              <a:srgbClr val="AAB4B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909560" y="156362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BE"/>
                </a:solidFill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10728" y="1947672"/>
            <a:ext cx="3392424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【外部】Yahoo Finance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"US Dollar Index (DX-Y.NYB)"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2026/8/18　52週區間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95.55-101.80，現價約99.65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11247120" cy="457200"/>
          </a:xfrm>
          <a:prstGeom prst="roundRect">
            <a:avLst>
              <a:gd name="adj" fmla="val 10000"/>
            </a:avLst>
          </a:prstGeom>
          <a:solidFill>
            <a:srgbClr val="E7ECF1"/>
          </a:solidFill>
          <a:ln/>
        </p:spPr>
      </p:sp>
      <p:sp>
        <p:nvSpPr>
          <p:cNvPr id="16" name="Shape 14"/>
          <p:cNvSpPr/>
          <p:nvPr/>
        </p:nvSpPr>
        <p:spPr>
          <a:xfrm>
            <a:off x="2063931" y="4160520"/>
            <a:ext cx="3213463" cy="457200"/>
          </a:xfrm>
          <a:prstGeom prst="rect">
            <a:avLst/>
          </a:prstGeom>
          <a:solidFill>
            <a:srgbClr val="6E8CA8"/>
          </a:solidFill>
          <a:ln/>
        </p:spPr>
      </p:sp>
      <p:sp>
        <p:nvSpPr>
          <p:cNvPr id="17" name="Text 15"/>
          <p:cNvSpPr/>
          <p:nvPr/>
        </p:nvSpPr>
        <p:spPr>
          <a:xfrm>
            <a:off x="1881051" y="38496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CICC：96-98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84126" y="4160520"/>
            <a:ext cx="1606731" cy="457200"/>
          </a:xfrm>
          <a:prstGeom prst="rect">
            <a:avLst/>
          </a:prstGeom>
          <a:solidFill>
            <a:srgbClr val="B7862C"/>
          </a:solidFill>
          <a:ln/>
        </p:spPr>
      </p:sp>
      <p:sp>
        <p:nvSpPr>
          <p:cNvPr id="19" name="Shape 17"/>
          <p:cNvSpPr/>
          <p:nvPr/>
        </p:nvSpPr>
        <p:spPr>
          <a:xfrm>
            <a:off x="7864493" y="4325112"/>
            <a:ext cx="128016" cy="128016"/>
          </a:xfrm>
          <a:prstGeom prst="ellipse">
            <a:avLst/>
          </a:prstGeom>
          <a:solidFill>
            <a:srgbClr val="9E2A2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38229" y="384962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E2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現價 99.65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46966" y="46908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86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本行修正：99-100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074920"/>
            <a:ext cx="112471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CICC 96-98區間本身已算偏強判斷，但成稿於8/17，未完全反映中東局勢升溫後的即時定價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DXY籃子中歐元57.6%、日圓13.6%為淨石油進口方，油價衝擊放大DXY支撐，不只是通膨→升息這條利率路徑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G7貨幣1個月隱含波動率偏低反映決策日前觀望壓縮，非趨勢確認，9/16-18後波動率大概率結構性擴大</a:t>
            </a:r>
            <a:endParaRPr lang="en-US" sz="1350" dirty="0"/>
          </a:p>
          <a:p>
            <a:pPr marL="177800" indent="-177800">
              <a:lnSpc>
                <a:spcPct val="120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時間框架：對應中金原文「2026年下半年」窗口（至12月底）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522389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短期驗證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短期美元由避險情緒主導，而非財政疑慮：實際盤面已驗證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流動性風險與外匯市場展望｜機密資料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38109" y="141579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兩股力量拔河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38109" y="1827276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7966709" y="19187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中東避險＋油價通膨疑慮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66709" y="22204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現在進行式風險，市場定價反應快　→　目前占上風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475469" y="283311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738109" y="3198876"/>
            <a:ext cx="4114800" cy="960120"/>
          </a:xfrm>
          <a:prstGeom prst="roundRect">
            <a:avLst>
              <a:gd name="adj" fmla="val 5714"/>
            </a:avLst>
          </a:prstGeom>
          <a:solidFill>
            <a:srgbClr val="E7ECF1"/>
          </a:solidFill>
          <a:ln/>
        </p:spPr>
      </p:sp>
      <p:sp>
        <p:nvSpPr>
          <p:cNvPr id="15" name="Text 13"/>
          <p:cNvSpPr/>
          <p:nvPr/>
        </p:nvSpPr>
        <p:spPr>
          <a:xfrm>
            <a:off x="7966709" y="32903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財政信心／供給壓力疑慮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66709" y="35920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較慢變量，且近期供給以短債為主，時間點較晚（見頁8）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6858000" cy="1417320"/>
          </a:xfrm>
          <a:prstGeom prst="rect">
            <a:avLst/>
          </a:prstGeom>
          <a:solidFill>
            <a:srgbClr val="FBFBFC"/>
          </a:solidFill>
          <a:ln w="15875">
            <a:solidFill>
              <a:srgbClr val="AAB4B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57200" y="4626864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BE"/>
                </a:solidFill>
              </a:rPr>
              <a:t>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" y="5010912"/>
            <a:ext cx="6612673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【中金報告二：海外流動性會出問題麼？】圖表｜我們測算，若油價逐步回落到年末70美元，CPI同比或降至2.7%附近　　重點關注：反向推論——若中東局勢升溫、油價不回落，CPI路徑可能維持在報告基準情境的更高水準，是短期波動加大的具體依據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172200"/>
            <a:ext cx="111671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E2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結論：短期方向偏強而非趨勢性偏弱，波動率因拔河而放大；一旦中東降溫，方向可能反轉</a:t>
            </a:r>
            <a:endParaRPr lang="en-US" sz="1400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516DA234-EDB5-4087-9CA3-B416DA7A0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15" y="1339595"/>
            <a:ext cx="5963602" cy="3044953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7C7747B4-ECC1-460E-9979-F00323014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7684" y="1258963"/>
            <a:ext cx="4771419" cy="301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88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政策承諾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沃什改革的承諾：把「大開大合」改成「細水長流」，降低危機重演機率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流動性風險與外匯市場展望｜機密資料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6858000" cy="3931920"/>
          </a:xfrm>
          <a:prstGeom prst="rect">
            <a:avLst/>
          </a:prstGeom>
          <a:solidFill>
            <a:srgbClr val="FBFBFC"/>
          </a:solidFill>
          <a:ln w="15875">
            <a:solidFill>
              <a:srgbClr val="AAB4B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160934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BE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6455664" cy="3355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【中金報告一：沃什改革下的「貨幣財政協同」】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圖表1｜準備金規模圍繞充裕水平大幅波動，不足時往往引發流動性危機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重點關注：15年準備金走勢，標註2019年repo危機、2020年美債市場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風險、2023年銀行業風險三次事件發生時的準備金位置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1691640"/>
            <a:ext cx="4114800" cy="1143000"/>
          </a:xfrm>
          <a:prstGeom prst="roundRect">
            <a:avLst>
              <a:gd name="adj" fmla="val 4800"/>
            </a:avLst>
          </a:prstGeom>
          <a:solidFill>
            <a:srgbClr val="F2F4F7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18013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過去模式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211226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QE衝滿水位 → QT抽到見底 → 引發危機 → 被迫重啟QE，循環往復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89520" y="3017520"/>
            <a:ext cx="4114800" cy="1143000"/>
          </a:xfrm>
          <a:prstGeom prst="roundRect">
            <a:avLst>
              <a:gd name="adj" fmla="val 4800"/>
            </a:avLst>
          </a:prstGeom>
          <a:solidFill>
            <a:srgbClr val="F2F4F7"/>
          </a:solidFill>
          <a:ln/>
        </p:spPr>
      </p:sp>
      <p:sp>
        <p:nvSpPr>
          <p:cNvPr id="13" name="Text 11"/>
          <p:cNvSpPr/>
          <p:nvPr/>
        </p:nvSpPr>
        <p:spPr>
          <a:xfrm>
            <a:off x="7818120" y="31272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新框架承諾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18120" y="343814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短債置換長債＋銀行去監管，流動性投放「細水長流」而非「大開大合」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89520" y="4343400"/>
            <a:ext cx="4114800" cy="1143000"/>
          </a:xfrm>
          <a:prstGeom prst="roundRect">
            <a:avLst>
              <a:gd name="adj" fmla="val 4800"/>
            </a:avLst>
          </a:prstGeom>
          <a:solidFill>
            <a:srgbClr val="F2F4F7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44531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但需明確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18120" y="476402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這是尚在推進中的政策方向，不是已生效的保證，落地進度需持續驗證</a:t>
            </a:r>
            <a:endParaRPr lang="en-US" sz="1400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BA4B8EB7-5821-4C43-86B9-D5EC15431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79" y="1344168"/>
            <a:ext cx="7476841" cy="474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551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傳導細節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殖利率下降不代表美元同步走弱：要看是哪種「弱」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流動性風險與外匯市場展望｜機密資料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457200" y="1600200"/>
          <a:ext cx="11247120" cy="25146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走弱類型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利率預期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期限溢價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長債殖利率淨效果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乾淨的需求面走弱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下修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（更多降息計入）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同步下降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（避險買盤湧入）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同步下降幅度較大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 err="1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滯脹型</a:t>
                      </a:r>
                      <a:r>
                        <a:rPr lang="en-US" altLang="zh-TW" sz="14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(Stagflation)</a:t>
                      </a:r>
                      <a:r>
                        <a:rPr lang="en-US" sz="1400" dirty="0" err="1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走弱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（如中東油價衝擊）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可能下修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維持高位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1C1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甚至上升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兩股力量抵銷，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B2545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殖利率變化小或脫鉤</a:t>
                      </a:r>
                      <a:endParaRPr lang="en-US" sz="14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02336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E7ECF1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402336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10年期名目殖利率 ≈ 未來10年預期短端利率路徑平均值（利率預期） ＋ 期限溢價（Term Premium）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507492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507492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9E2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重點關注：現在的環境（中東局勢＋油價）較接近滯脹型，不能直接套用「數據差＝殖利率跌＝美元弱」的簡化邏輯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05745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開場立場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流動性風險機制成立，但三殺尚未觸發——關鍵看兩個條件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流動性風險與外匯市場展望｜機密資料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資本市場確實共用同一套流動性折現機制——股、債、房的估值與槓桿部位，最終都受銀行體系準備金鬆緊牽動。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但歷史顯示，流動性收縮要演變成資產全面崩盤，需要以下兩個條件同時成立：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F2F4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429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條件一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收縮速度過快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市場來不及調整部位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（如1994年、2013年）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69080" y="320040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F2F4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43400" y="3429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37490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疊加信用事件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43400" y="434340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某環節出現實質違約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或流動性斷鏈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（如2008年、2023年）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30752" y="4114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092440" y="3200400"/>
            <a:ext cx="3639312" cy="2377440"/>
          </a:xfrm>
          <a:prstGeom prst="roundRect">
            <a:avLst>
              <a:gd name="adj" fmla="val 3077"/>
            </a:avLst>
          </a:prstGeom>
          <a:solidFill>
            <a:srgbClr val="0B2545"/>
          </a:solidFill>
          <a:ln/>
        </p:spPr>
      </p:sp>
      <p:sp>
        <p:nvSpPr>
          <p:cNvPr id="17" name="Text 15"/>
          <p:cNvSpPr/>
          <p:nvPr/>
        </p:nvSpPr>
        <p:spPr>
          <a:xfrm>
            <a:off x="7571232" y="41148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366760" y="3474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股債房三殺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66760" y="40690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僅單一條件成立時，衝擊多侷限於利率市場本身，不易蔓延全資產類別（詳見頁4歷史比較）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E2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目前體檢：兩個條件均未成立，但9月16日FOMC、9月18日BOJ兩大決策日待觀察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503869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我的展望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altLang="zh-TW" sz="2400" b="1" dirty="0" err="1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Warh</a:t>
            </a:r>
            <a:r>
              <a:rPr lang="zh-TW" alt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新框架能解決</a:t>
            </a:r>
            <a:r>
              <a:rPr lang="en-US" altLang="zh-TW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『</a:t>
            </a:r>
            <a:r>
              <a:rPr lang="zh-TW" alt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</a:t>
            </a:r>
            <a:r>
              <a:rPr lang="en-US" altLang="zh-TW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』</a:t>
            </a:r>
            <a:r>
              <a:rPr lang="zh-TW" alt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問題，但</a:t>
            </a:r>
            <a:r>
              <a:rPr lang="en-US" altLang="zh-TW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『</a:t>
            </a:r>
            <a:r>
              <a:rPr lang="zh-TW" alt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信用事件</a:t>
            </a:r>
            <a:r>
              <a:rPr lang="en-US" altLang="zh-TW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』</a:t>
            </a:r>
            <a:r>
              <a:rPr lang="zh-TW" alt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風險交給財政紀律決定</a:t>
            </a:r>
            <a:endParaRPr lang="en-US" sz="2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5D05ADF-F533-44EF-AEE7-3169A9A33376}"/>
              </a:ext>
            </a:extLst>
          </p:cNvPr>
          <p:cNvSpPr/>
          <p:nvPr/>
        </p:nvSpPr>
        <p:spPr>
          <a:xfrm>
            <a:off x="457200" y="155448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資本市場確實共用同一套流動性折現機制——股、債、房的估值與槓桿部位，最終都受銀行體系準備金鬆緊牽動。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但歷史顯示，流動性收縮要演變成資產全面崩盤，需要以下兩個條件同時成立：</a:t>
            </a:r>
            <a:endParaRPr lang="en-US" sz="15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3D89480A-7D65-43A0-A11F-1C1782250770}"/>
              </a:ext>
            </a:extLst>
          </p:cNvPr>
          <p:cNvSpPr/>
          <p:nvPr/>
        </p:nvSpPr>
        <p:spPr>
          <a:xfrm>
            <a:off x="457200" y="320040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F2F4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D97AAAB-A88C-4CD3-81A8-9EB97061975E}"/>
              </a:ext>
            </a:extLst>
          </p:cNvPr>
          <p:cNvSpPr/>
          <p:nvPr/>
        </p:nvSpPr>
        <p:spPr>
          <a:xfrm>
            <a:off x="731520" y="3429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條件一</a:t>
            </a:r>
            <a:endParaRPr lang="en-US" sz="14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EAB4024-B4F5-467B-B7A0-75BEEC9DC37D}"/>
              </a:ext>
            </a:extLst>
          </p:cNvPr>
          <p:cNvSpPr/>
          <p:nvPr/>
        </p:nvSpPr>
        <p:spPr>
          <a:xfrm>
            <a:off x="731520" y="37490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收縮速度過快</a:t>
            </a:r>
            <a:endParaRPr lang="en-US" sz="20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56A2E35-8B5D-401F-BB37-6AAE5D10C753}"/>
              </a:ext>
            </a:extLst>
          </p:cNvPr>
          <p:cNvSpPr/>
          <p:nvPr/>
        </p:nvSpPr>
        <p:spPr>
          <a:xfrm>
            <a:off x="731520" y="434340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市場來不及調整部位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（如1994年、2013年）</a:t>
            </a:r>
            <a:endParaRPr lang="en-US" sz="14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E34BCBD-E4B5-4E7B-A3E2-BDBF85EE1ACE}"/>
              </a:ext>
            </a:extLst>
          </p:cNvPr>
          <p:cNvSpPr/>
          <p:nvPr/>
        </p:nvSpPr>
        <p:spPr>
          <a:xfrm>
            <a:off x="4069080" y="3200400"/>
            <a:ext cx="3246120" cy="2377440"/>
          </a:xfrm>
          <a:prstGeom prst="roundRect">
            <a:avLst>
              <a:gd name="adj" fmla="val 3077"/>
            </a:avLst>
          </a:prstGeom>
          <a:solidFill>
            <a:srgbClr val="F2F4F7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1B0B1812-525A-4FE4-98DF-5C687D4F2368}"/>
              </a:ext>
            </a:extLst>
          </p:cNvPr>
          <p:cNvSpPr/>
          <p:nvPr/>
        </p:nvSpPr>
        <p:spPr>
          <a:xfrm>
            <a:off x="4343400" y="3429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條件二</a:t>
            </a:r>
            <a:endParaRPr lang="en-US" sz="14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B7080B49-E424-4EC1-B3AF-72CD15DA9212}"/>
              </a:ext>
            </a:extLst>
          </p:cNvPr>
          <p:cNvSpPr/>
          <p:nvPr/>
        </p:nvSpPr>
        <p:spPr>
          <a:xfrm>
            <a:off x="4343400" y="37490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疊加信用事件</a:t>
            </a:r>
            <a:endParaRPr lang="en-US" sz="20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843D021A-8826-4DDE-8169-25FD0F6037C2}"/>
              </a:ext>
            </a:extLst>
          </p:cNvPr>
          <p:cNvSpPr/>
          <p:nvPr/>
        </p:nvSpPr>
        <p:spPr>
          <a:xfrm>
            <a:off x="4343400" y="4343400"/>
            <a:ext cx="2697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某環節出現實質違約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或流動性斷鏈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（如2008年、2023年）</a:t>
            </a:r>
            <a:endParaRPr lang="en-US" sz="14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928BB61A-91AB-4B42-BA7A-ADEC6BCB5430}"/>
              </a:ext>
            </a:extLst>
          </p:cNvPr>
          <p:cNvSpPr/>
          <p:nvPr/>
        </p:nvSpPr>
        <p:spPr>
          <a:xfrm>
            <a:off x="3730752" y="41148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</a:t>
            </a:r>
            <a:endParaRPr lang="en-US" sz="26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36DC3760-ACE8-41C4-95E4-8D5061C29946}"/>
              </a:ext>
            </a:extLst>
          </p:cNvPr>
          <p:cNvSpPr/>
          <p:nvPr/>
        </p:nvSpPr>
        <p:spPr>
          <a:xfrm>
            <a:off x="8092440" y="3200400"/>
            <a:ext cx="3639312" cy="2377440"/>
          </a:xfrm>
          <a:prstGeom prst="roundRect">
            <a:avLst>
              <a:gd name="adj" fmla="val 3077"/>
            </a:avLst>
          </a:prstGeom>
          <a:solidFill>
            <a:srgbClr val="0B2545"/>
          </a:solidFill>
          <a:ln/>
        </p:spPr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D3D4331C-4E7C-461E-80F5-7A51042364E2}"/>
              </a:ext>
            </a:extLst>
          </p:cNvPr>
          <p:cNvSpPr/>
          <p:nvPr/>
        </p:nvSpPr>
        <p:spPr>
          <a:xfrm>
            <a:off x="7571232" y="41148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＝</a:t>
            </a:r>
            <a:endParaRPr lang="en-US" sz="26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24024444-D12A-4EE2-80ED-7070D38BCBA3}"/>
              </a:ext>
            </a:extLst>
          </p:cNvPr>
          <p:cNvSpPr/>
          <p:nvPr/>
        </p:nvSpPr>
        <p:spPr>
          <a:xfrm>
            <a:off x="8366760" y="3474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股債房三殺</a:t>
            </a:r>
            <a:endParaRPr lang="en-US" sz="20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79132EEB-CBDF-44F7-8AA0-2578C9065423}"/>
              </a:ext>
            </a:extLst>
          </p:cNvPr>
          <p:cNvSpPr/>
          <p:nvPr/>
        </p:nvSpPr>
        <p:spPr>
          <a:xfrm>
            <a:off x="8366760" y="40690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僅單一條件成立時，衝擊多侷限於利率市場本身，不易蔓延全資產類別（詳見頁4歷史比較）</a:t>
            </a:r>
            <a:endParaRPr lang="en-US" sz="14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5E3C44A7-8F75-4E2D-A6BB-AF350DE5C2D4}"/>
              </a:ext>
            </a:extLst>
          </p:cNvPr>
          <p:cNvSpPr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E2A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目前體檢：兩個條件均未成立，但9月16日FOMC、9月18日BOJ兩大決策日待觀察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484631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1400" b="1" kern="0" spc="100" dirty="0">
                <a:solidFill>
                  <a:srgbClr val="44607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空窗期風險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400" b="1" dirty="0" err="1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空窗期風險真實存在</a:t>
            </a:r>
            <a:r>
              <a:rPr lang="zh-TW" altLang="en-US" sz="2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，結構性長債誰來承接是關鍵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流動性風險與外匯市場展望｜機密資料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5532120" cy="2011680"/>
          </a:xfrm>
          <a:prstGeom prst="rect">
            <a:avLst/>
          </a:prstGeom>
          <a:solidFill>
            <a:srgbClr val="FBFBFC"/>
          </a:solidFill>
          <a:ln w="15875">
            <a:solidFill>
              <a:srgbClr val="AAB4BE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1609344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BE"/>
                </a:solidFill>
              </a:rPr>
              <a:t>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8368" y="1993392"/>
            <a:ext cx="5129784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【中金報告一：沃什改革下的「貨幣財政協同」】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圖表7｜企業債淨發行持續走高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重點關注：未來一年企業債淨融資有望突破2萬億美元，是檢驗銀行承接能力的實戰場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532120" cy="2011680"/>
          </a:xfrm>
          <a:prstGeom prst="rect">
            <a:avLst/>
          </a:prstGeom>
          <a:solidFill>
            <a:srgbClr val="FBFBFC"/>
          </a:solidFill>
          <a:ln w="15875">
            <a:solidFill>
              <a:srgbClr val="AAB4B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172200" y="1609344"/>
            <a:ext cx="5532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AB4BE"/>
                </a:solidFill>
              </a:rPr>
              <a:t>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73368" y="1993392"/>
            <a:ext cx="5129784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【中金報告一：沃什改革下的「貨幣財政協同」】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圖表13｜米蘭《縮減指南》給出了流動性體系改革的關鍵細節（沿用頁7）</a:t>
            </a:r>
            <a:endParaRPr lang="en-US" sz="12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重點關注：13項政策條文與估算金額，說明法規落地需要時間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76072" y="4703825"/>
            <a:ext cx="10881360" cy="0"/>
          </a:xfrm>
          <a:prstGeom prst="line">
            <a:avLst/>
          </a:prstGeom>
          <a:noFill/>
          <a:ln w="25400">
            <a:solidFill>
              <a:srgbClr val="44607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" y="4543043"/>
            <a:ext cx="164592" cy="164592"/>
          </a:xfrm>
          <a:prstGeom prst="ellipse">
            <a:avLst/>
          </a:prstGeom>
          <a:solidFill>
            <a:srgbClr val="44607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789931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5100827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聯準會早已退出長債買盤</a:t>
            </a:r>
            <a:endParaRPr lang="en-US" sz="12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（RMP買短債、持續減MBS）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23944" y="4543043"/>
            <a:ext cx="164592" cy="164592"/>
          </a:xfrm>
          <a:prstGeom prst="ellipse">
            <a:avLst/>
          </a:prstGeom>
          <a:solidFill>
            <a:srgbClr val="3D6B4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4789931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未來4-6週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5100827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三季度美債淨發行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84-86%為短債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長債供給壓力有限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690104" y="4543043"/>
            <a:ext cx="164592" cy="164592"/>
          </a:xfrm>
          <a:prstGeom prst="ellipse">
            <a:avLst/>
          </a:prstGeom>
          <a:solidFill>
            <a:srgbClr val="B7862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4789931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Q4 2026起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5100827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發債結構料轉向長債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真正考驗銀行承接能力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250424" y="4543043"/>
            <a:ext cx="164592" cy="164592"/>
          </a:xfrm>
          <a:prstGeom prst="ellipse">
            <a:avLst/>
          </a:prstGeom>
          <a:solidFill>
            <a:srgbClr val="9E2A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69680" y="4789931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2027上半年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23960" y="5100827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H.8資產負債表數據</a:t>
            </a:r>
            <a:endParaRPr lang="en-US" sz="1250" dirty="0"/>
          </a:p>
          <a:p>
            <a:pPr marL="0" indent="0" algn="r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驗證框架成敗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結論：空窗期風險比較可能是「Q4後逐步發酵」，而非「接下來幾週立即引爆」——短期部位與中長期避險策略應分開處理</a:t>
            </a:r>
            <a:endParaRPr lang="en-US" sz="1500" dirty="0"/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8FAC9086-C6F1-4912-9480-EE7339E36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57" y="1298614"/>
            <a:ext cx="5749243" cy="309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364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cKinsey Colour">
      <a:dk1>
        <a:sysClr val="windowText" lastClr="000000"/>
      </a:dk1>
      <a:lt1>
        <a:sysClr val="window" lastClr="FFFFFF"/>
      </a:lt1>
      <a:dk2>
        <a:srgbClr val="1F3A5F"/>
      </a:dk2>
      <a:lt2>
        <a:srgbClr val="F2F2F2"/>
      </a:lt2>
      <a:accent1>
        <a:srgbClr val="1F3A5F"/>
      </a:accent1>
      <a:accent2>
        <a:srgbClr val="E31937"/>
      </a:accent2>
      <a:accent3>
        <a:srgbClr val="999999"/>
      </a:accent3>
      <a:accent4>
        <a:srgbClr val="FFC72C"/>
      </a:accent4>
      <a:accent5>
        <a:srgbClr val="0070C0"/>
      </a:accent5>
      <a:accent6>
        <a:srgbClr val="00B05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1982</Words>
  <Application>Microsoft Office PowerPoint</Application>
  <PresentationFormat>寬螢幕</PresentationFormat>
  <Paragraphs>397</Paragraphs>
  <Slides>19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4" baseType="lpstr">
      <vt:lpstr>Microsoft JhengHei</vt:lpstr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陳冠升</cp:lastModifiedBy>
  <cp:revision>46</cp:revision>
  <dcterms:created xsi:type="dcterms:W3CDTF">2026-08-19T06:30:34Z</dcterms:created>
  <dcterms:modified xsi:type="dcterms:W3CDTF">2026-08-21T04:00:36Z</dcterms:modified>
</cp:coreProperties>
</file>